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20624" cy="420624"/>
          </a:xfrm>
          <a:prstGeom prst="rect">
            <a:avLst/>
          </a:prstGeom>
          <a:solidFill>
            <a:srgbClr val="08BDBA"/>
          </a:solidFill>
          <a:ln w="12700">
            <a:solidFill>
              <a:srgbClr val="08BD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108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1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 Business Operations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005840" cy="320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80467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Transforming How Enterprises</a:t>
            </a:r>
            <a:endParaRPr lang="en-US" sz="4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Assess, Design &amp; Operate</a:t>
            </a:r>
            <a:endParaRPr lang="en-US" sz="4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Next-Gen Business Operations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91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EB1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White-Label Intelligence Platform for GTM, Deal Teams, Solution Architects &amp; Delivery Leaders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" y="4160520"/>
            <a:ext cx="1828800" cy="34747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160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Sellers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68296" y="4160520"/>
            <a:ext cx="1828800" cy="34747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8296" y="4160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Deal Teams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5112" y="4160520"/>
            <a:ext cx="1828800" cy="34747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4160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81928" y="4160520"/>
            <a:ext cx="1828800" cy="34747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4160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47731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Four Powerful Use Cases.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Accelerating next-generation Business Operations opportunities across Finance, Procurement &amp; HR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11480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50292" cy="171907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" y="1316736"/>
            <a:ext cx="347472" cy="34747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31673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SELLERS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" y="1682496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Zero Story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" y="199339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Bring the NextGen BO story to life for prospects. Use proven transformation benchmarks and Client Zero case study outcomes to shape compelling $50M+ opportunities across 3 key domains.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170432"/>
            <a:ext cx="411480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170432"/>
            <a:ext cx="50292" cy="171907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64024" y="1316736"/>
            <a:ext cx="347472" cy="34747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131673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DEAL TEAMS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64024" y="1682496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60-Question Maturity Harvester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64024" y="199339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Rapid multi-stakeholder assessment across Finance, Procurement &amp; HR. Built from years of successful client engagements. Outputs a scored maturity profile instantly with prioritised gap analysis.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999232"/>
            <a:ext cx="411480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999232"/>
            <a:ext cx="50292" cy="171907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" y="3145536"/>
            <a:ext cx="347472" cy="34747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14553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&amp; DELIVERY TEAMS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84" y="3511296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Transformation Roadmap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" y="382219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AI-generated domain roadmaps aligned to client maturity and Client Zero benchmarks. Horizon-based initiative library with value mapping, Gantt timelines and ROI projections.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2999232"/>
            <a:ext cx="411480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2999232"/>
            <a:ext cx="50292" cy="171907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64024" y="3145536"/>
            <a:ext cx="347472" cy="34747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14553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64024" y="3511296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Modelling Engine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64024" y="3822192"/>
            <a:ext cx="3858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automation, onshore/nearshore BO and hybrid scenarios at transaction level. Built on industry benchmarks. Compare 5 scenarios instantly — outputs exec-ready cost and savings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Maturity Assessment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Beta client assessment — Finance domain 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42416"/>
            <a:ext cx="5303520" cy="3017520"/>
          </a:xfrm>
          <a:prstGeom prst="rect">
            <a:avLst/>
          </a:prstGeom>
          <a:solidFill>
            <a:srgbClr val="E8EDF5"/>
          </a:solidFill>
          <a:ln w="19050">
            <a:solidFill>
              <a:srgbClr val="0F62F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252"/>
                </a:solidFill>
              </a:rPr>
              <a:t>[Screenshot: assess.html — Finance Spider Chart &amp; Scorecard]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89320" y="1042416"/>
            <a:ext cx="2834640" cy="886968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42416"/>
            <a:ext cx="50292" cy="88696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35624" y="1078992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135624" y="144475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35624" y="165506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Across 3 domains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2093976"/>
            <a:ext cx="2834640" cy="886968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2093976"/>
            <a:ext cx="50292" cy="88696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5624" y="2130552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35624" y="24963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Levels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35624" y="270662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Aware → Leading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3145536"/>
            <a:ext cx="2834640" cy="886968"/>
          </a:xfrm>
          <a:prstGeom prst="rect">
            <a:avLst/>
          </a:prstGeom>
          <a:solidFill>
            <a:srgbClr val="F4F4F4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3145536"/>
            <a:ext cx="50292" cy="88696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5624" y="3182112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Sub-domain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35624" y="354787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per dimension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35624" y="375818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Granular gap analysis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133088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Multi-stakeholder questionnaire refined over 3+ years of client engagements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Instant domain-level spider charts with drill-down to sub-domain scorecards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Exports assessment results for SteerCo and executive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Assessment to Roadmap to Business Case — In Minutes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5603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41248"/>
            <a:ext cx="4114800" cy="32004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841248"/>
            <a:ext cx="396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Transformation Roadmap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4114800" cy="2651760"/>
          </a:xfrm>
          <a:prstGeom prst="rect">
            <a:avLst/>
          </a:prstGeom>
          <a:solidFill>
            <a:srgbClr val="E8EDF5"/>
          </a:solidFill>
          <a:ln w="19050">
            <a:solidFill>
              <a:srgbClr val="0F62F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252"/>
                </a:solidFill>
              </a:rPr>
              <a:t>[Screenshot: roadmap.html — Transformation Roadmap &amp; Timeline]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93192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Initiative library mapped to maturity gaps — horizon-classified (0-6m, 6-18m, 18m+)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value summary: EAV, cost, ROI per initiative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41248"/>
            <a:ext cx="4114800" cy="320040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841248"/>
            <a:ext cx="396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Multi-Scenario Business Case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114800" cy="2651760"/>
          </a:xfrm>
          <a:prstGeom prst="rect">
            <a:avLst/>
          </a:prstGeom>
          <a:solidFill>
            <a:srgbClr val="E8EDF5"/>
          </a:solidFill>
          <a:ln w="19050">
            <a:solidFill>
              <a:srgbClr val="0F62F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709160" y="118872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252"/>
                </a:solidFill>
              </a:rPr>
              <a:t>[Screenshot: businesscase.html — Multi-Scenario Business Case]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393192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modelled scenarios: Do Nothing, Automation, BO Onshore/Nearshore, Hybrid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52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Transaction-level unit economics vs industry benchmarks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Complete Intelligence Platform for the Full Transformation Journey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EB1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first client conversation to steady-state operations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457200"/>
          </a:xfrm>
          <a:prstGeom prst="rect">
            <a:avLst/>
          </a:prstGeom>
          <a:solidFill>
            <a:srgbClr val="1A2B5C"/>
          </a:solidFill>
          <a:ln w="6350">
            <a:solidFill>
              <a:srgbClr val="2435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15568"/>
            <a:ext cx="64008" cy="457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207008"/>
            <a:ext cx="1143000" cy="274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2070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47088" y="1115568"/>
            <a:ext cx="6784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60-question maturity benchmark across Finance, Procurement &amp; HR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655064"/>
            <a:ext cx="8321040" cy="457200"/>
          </a:xfrm>
          <a:prstGeom prst="rect">
            <a:avLst/>
          </a:prstGeom>
          <a:solidFill>
            <a:srgbClr val="1A2B5C"/>
          </a:solidFill>
          <a:ln w="6350">
            <a:solidFill>
              <a:srgbClr val="2435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55064"/>
            <a:ext cx="64008" cy="457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1746504"/>
            <a:ext cx="1143000" cy="274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7465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47088" y="1655064"/>
            <a:ext cx="6784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Gap-to-initiative mapping with horizon planning and value forecasting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2194560"/>
            <a:ext cx="8321040" cy="457200"/>
          </a:xfrm>
          <a:prstGeom prst="rect">
            <a:avLst/>
          </a:prstGeom>
          <a:solidFill>
            <a:srgbClr val="1A2B5C"/>
          </a:solidFill>
          <a:ln w="6350">
            <a:solidFill>
              <a:srgbClr val="2435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94560"/>
            <a:ext cx="64008" cy="457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2286000"/>
            <a:ext cx="1143000" cy="274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286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47088" y="2194560"/>
            <a:ext cx="6784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Scenario modelling with transaction economics and benchmarks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2734056"/>
            <a:ext cx="8321040" cy="457200"/>
          </a:xfrm>
          <a:prstGeom prst="rect">
            <a:avLst/>
          </a:prstGeom>
          <a:solidFill>
            <a:srgbClr val="1A2B5C"/>
          </a:solidFill>
          <a:ln w="6350">
            <a:solidFill>
              <a:srgbClr val="2435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734056"/>
            <a:ext cx="64008" cy="457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" y="2825496"/>
            <a:ext cx="1143000" cy="274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28254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47088" y="2734056"/>
            <a:ext cx="6784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Methodology guides, SOP templates and transformation accelerators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1480" y="3273552"/>
            <a:ext cx="8321040" cy="457200"/>
          </a:xfrm>
          <a:prstGeom prst="rect">
            <a:avLst/>
          </a:prstGeom>
          <a:solidFill>
            <a:srgbClr val="1A2B5C"/>
          </a:solidFill>
          <a:ln w="6350">
            <a:solidFill>
              <a:srgbClr val="2435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273552"/>
            <a:ext cx="64008" cy="4572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" y="3364992"/>
            <a:ext cx="1143000" cy="274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3649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ROI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47088" y="3273552"/>
            <a:ext cx="6784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0D8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 engagements, measure KPI delivery, report savings to clients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1480" y="4370832"/>
            <a:ext cx="2011680" cy="38404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370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Live Demo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42032" y="4370832"/>
            <a:ext cx="1737360" cy="384048"/>
          </a:xfrm>
          <a:prstGeom prst="rect">
            <a:avLst/>
          </a:prstGeom>
          <a:solidFill>
            <a:srgbClr val="0F1941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43708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Platform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48280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B1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nextgenbpo.app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NextGen Business Operations Intelligence Platform</dc:title>
  <dc:subject>PptxGenJS Presentation</dc:subject>
  <dc:creator>NextGen BO Platform</dc:creator>
  <cp:lastModifiedBy>NextGen BO Platform</cp:lastModifiedBy>
  <cp:revision>1</cp:revision>
  <dcterms:created xsi:type="dcterms:W3CDTF">2026-04-15T21:52:56Z</dcterms:created>
  <dcterms:modified xsi:type="dcterms:W3CDTF">2026-04-15T21:52:56Z</dcterms:modified>
</cp:coreProperties>
</file>